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69A65-F419-48F7-861C-B225C50F35F3}" v="349" dt="2023-04-17T22:22:38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jey Gandyer" userId="S::101352235@georgebrown.ca::654274eb-e1b9-435a-ae49-a2154d32a50b" providerId="AD" clId="Web-{A5269A65-F419-48F7-861C-B225C50F35F3}"/>
    <pc:docChg chg="addSld modSld">
      <pc:chgData name="Vejey Gandyer" userId="S::101352235@georgebrown.ca::654274eb-e1b9-435a-ae49-a2154d32a50b" providerId="AD" clId="Web-{A5269A65-F419-48F7-861C-B225C50F35F3}" dt="2023-04-17T22:22:38.716" v="334" actId="20577"/>
      <pc:docMkLst>
        <pc:docMk/>
      </pc:docMkLst>
      <pc:sldChg chg="modSp">
        <pc:chgData name="Vejey Gandyer" userId="S::101352235@georgebrown.ca::654274eb-e1b9-435a-ae49-a2154d32a50b" providerId="AD" clId="Web-{A5269A65-F419-48F7-861C-B225C50F35F3}" dt="2023-04-17T22:07:59.692" v="28" actId="20577"/>
        <pc:sldMkLst>
          <pc:docMk/>
          <pc:sldMk cId="109857222" sldId="256"/>
        </pc:sldMkLst>
        <pc:spChg chg="mod">
          <ac:chgData name="Vejey Gandyer" userId="S::101352235@georgebrown.ca::654274eb-e1b9-435a-ae49-a2154d32a50b" providerId="AD" clId="Web-{A5269A65-F419-48F7-861C-B225C50F35F3}" dt="2023-04-17T22:07:26.567" v="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07:59.692" v="2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2:02.940" v="142" actId="20577"/>
        <pc:sldMkLst>
          <pc:docMk/>
          <pc:sldMk cId="714932833" sldId="257"/>
        </pc:sldMkLst>
        <pc:spChg chg="mod">
          <ac:chgData name="Vejey Gandyer" userId="S::101352235@georgebrown.ca::654274eb-e1b9-435a-ae49-a2154d32a50b" providerId="AD" clId="Web-{A5269A65-F419-48F7-861C-B225C50F35F3}" dt="2023-04-17T22:08:04.254" v="30" actId="20577"/>
          <ac:spMkLst>
            <pc:docMk/>
            <pc:sldMk cId="714932833" sldId="257"/>
            <ac:spMk id="2" creationId="{9432A4D7-FFEE-42D5-F7C0-D255FB326179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2:02.940" v="142" actId="20577"/>
          <ac:spMkLst>
            <pc:docMk/>
            <pc:sldMk cId="714932833" sldId="257"/>
            <ac:spMk id="3" creationId="{955C1DA7-4623-1F86-D71E-05B959A747F3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0:02.472" v="91" actId="20577"/>
        <pc:sldMkLst>
          <pc:docMk/>
          <pc:sldMk cId="1451055495" sldId="258"/>
        </pc:sldMkLst>
        <pc:spChg chg="mod">
          <ac:chgData name="Vejey Gandyer" userId="S::101352235@georgebrown.ca::654274eb-e1b9-435a-ae49-a2154d32a50b" providerId="AD" clId="Web-{A5269A65-F419-48F7-861C-B225C50F35F3}" dt="2023-04-17T22:09:52.785" v="85" actId="20577"/>
          <ac:spMkLst>
            <pc:docMk/>
            <pc:sldMk cId="1451055495" sldId="258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0:02.472" v="91" actId="20577"/>
          <ac:spMkLst>
            <pc:docMk/>
            <pc:sldMk cId="1451055495" sldId="258"/>
            <ac:spMk id="3" creationId="{5146378A-8E36-E855-5BC2-D1921B2C8DFD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0:22.956" v="97" actId="20577"/>
        <pc:sldMkLst>
          <pc:docMk/>
          <pc:sldMk cId="2269348614" sldId="259"/>
        </pc:sldMkLst>
        <pc:spChg chg="mod">
          <ac:chgData name="Vejey Gandyer" userId="S::101352235@georgebrown.ca::654274eb-e1b9-435a-ae49-a2154d32a50b" providerId="AD" clId="Web-{A5269A65-F419-48F7-861C-B225C50F35F3}" dt="2023-04-17T22:10:22.956" v="97" actId="20577"/>
          <ac:spMkLst>
            <pc:docMk/>
            <pc:sldMk cId="2269348614" sldId="259"/>
            <ac:spMk id="2" creationId="{04F97662-AED2-7524-752D-93049E338F96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1:44.252" v="136" actId="20577"/>
        <pc:sldMkLst>
          <pc:docMk/>
          <pc:sldMk cId="3481001433" sldId="260"/>
        </pc:sldMkLst>
        <pc:spChg chg="mod">
          <ac:chgData name="Vejey Gandyer" userId="S::101352235@georgebrown.ca::654274eb-e1b9-435a-ae49-a2154d32a50b" providerId="AD" clId="Web-{A5269A65-F419-48F7-861C-B225C50F35F3}" dt="2023-04-17T22:10:39.737" v="111" actId="20577"/>
          <ac:spMkLst>
            <pc:docMk/>
            <pc:sldMk cId="3481001433" sldId="260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1:44.252" v="136" actId="20577"/>
          <ac:spMkLst>
            <pc:docMk/>
            <pc:sldMk cId="3481001433" sldId="260"/>
            <ac:spMk id="3" creationId="{5146378A-8E36-E855-5BC2-D1921B2C8DFD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2:18.987" v="148" actId="20577"/>
        <pc:sldMkLst>
          <pc:docMk/>
          <pc:sldMk cId="1824554069" sldId="261"/>
        </pc:sldMkLst>
        <pc:spChg chg="mod">
          <ac:chgData name="Vejey Gandyer" userId="S::101352235@georgebrown.ca::654274eb-e1b9-435a-ae49-a2154d32a50b" providerId="AD" clId="Web-{A5269A65-F419-48F7-861C-B225C50F35F3}" dt="2023-04-17T22:12:14.971" v="147" actId="20577"/>
          <ac:spMkLst>
            <pc:docMk/>
            <pc:sldMk cId="1824554069" sldId="261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2:18.987" v="148" actId="20577"/>
          <ac:spMkLst>
            <pc:docMk/>
            <pc:sldMk cId="1824554069" sldId="261"/>
            <ac:spMk id="3" creationId="{5146378A-8E36-E855-5BC2-D1921B2C8DFD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3:01.518" v="160" actId="20577"/>
        <pc:sldMkLst>
          <pc:docMk/>
          <pc:sldMk cId="1494679942" sldId="262"/>
        </pc:sldMkLst>
        <pc:spChg chg="mod">
          <ac:chgData name="Vejey Gandyer" userId="S::101352235@georgebrown.ca::654274eb-e1b9-435a-ae49-a2154d32a50b" providerId="AD" clId="Web-{A5269A65-F419-48F7-861C-B225C50F35F3}" dt="2023-04-17T22:13:01.518" v="160" actId="20577"/>
          <ac:spMkLst>
            <pc:docMk/>
            <pc:sldMk cId="1494679942" sldId="262"/>
            <ac:spMk id="2" creationId="{CA31929A-EEE1-8758-AA18-951205159030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3:59.533" v="205" actId="20577"/>
        <pc:sldMkLst>
          <pc:docMk/>
          <pc:sldMk cId="3472918470" sldId="263"/>
        </pc:sldMkLst>
        <pc:spChg chg="mod">
          <ac:chgData name="Vejey Gandyer" userId="S::101352235@georgebrown.ca::654274eb-e1b9-435a-ae49-a2154d32a50b" providerId="AD" clId="Web-{A5269A65-F419-48F7-861C-B225C50F35F3}" dt="2023-04-17T22:13:08.111" v="166" actId="20577"/>
          <ac:spMkLst>
            <pc:docMk/>
            <pc:sldMk cId="3472918470" sldId="263"/>
            <ac:spMk id="2" creationId="{CA31929A-EEE1-8758-AA18-95120515903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3:59.533" v="205" actId="20577"/>
          <ac:spMkLst>
            <pc:docMk/>
            <pc:sldMk cId="3472918470" sldId="263"/>
            <ac:spMk id="3" creationId="{6F71D1DD-78C5-6ECE-77F4-BE51B4D92C9A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4:17.033" v="230" actId="20577"/>
        <pc:sldMkLst>
          <pc:docMk/>
          <pc:sldMk cId="2775502098" sldId="264"/>
        </pc:sldMkLst>
        <pc:spChg chg="mod">
          <ac:chgData name="Vejey Gandyer" userId="S::101352235@georgebrown.ca::654274eb-e1b9-435a-ae49-a2154d32a50b" providerId="AD" clId="Web-{A5269A65-F419-48F7-861C-B225C50F35F3}" dt="2023-04-17T22:14:17.033" v="230" actId="20577"/>
          <ac:spMkLst>
            <pc:docMk/>
            <pc:sldMk cId="2775502098" sldId="264"/>
            <ac:spMk id="2" creationId="{CA31929A-EEE1-8758-AA18-95120515903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4:13.345" v="229" actId="20577"/>
          <ac:spMkLst>
            <pc:docMk/>
            <pc:sldMk cId="2775502098" sldId="264"/>
            <ac:spMk id="3" creationId="{6F71D1DD-78C5-6ECE-77F4-BE51B4D92C9A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5:41.688" v="235" actId="20577"/>
        <pc:sldMkLst>
          <pc:docMk/>
          <pc:sldMk cId="328343878" sldId="265"/>
        </pc:sldMkLst>
        <pc:spChg chg="mod">
          <ac:chgData name="Vejey Gandyer" userId="S::101352235@georgebrown.ca::654274eb-e1b9-435a-ae49-a2154d32a50b" providerId="AD" clId="Web-{A5269A65-F419-48F7-861C-B225C50F35F3}" dt="2023-04-17T22:15:41.688" v="235" actId="20577"/>
          <ac:spMkLst>
            <pc:docMk/>
            <pc:sldMk cId="328343878" sldId="265"/>
            <ac:spMk id="2" creationId="{CA31929A-EEE1-8758-AA18-951205159030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5:53.938" v="240" actId="20577"/>
        <pc:sldMkLst>
          <pc:docMk/>
          <pc:sldMk cId="3774830715" sldId="266"/>
        </pc:sldMkLst>
        <pc:spChg chg="mod">
          <ac:chgData name="Vejey Gandyer" userId="S::101352235@georgebrown.ca::654274eb-e1b9-435a-ae49-a2154d32a50b" providerId="AD" clId="Web-{A5269A65-F419-48F7-861C-B225C50F35F3}" dt="2023-04-17T22:15:53.938" v="240" actId="20577"/>
          <ac:spMkLst>
            <pc:docMk/>
            <pc:sldMk cId="3774830715" sldId="266"/>
            <ac:spMk id="2" creationId="{CA31929A-EEE1-8758-AA18-951205159030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22:38.716" v="334" actId="20577"/>
        <pc:sldMkLst>
          <pc:docMk/>
          <pc:sldMk cId="3574047956" sldId="267"/>
        </pc:sldMkLst>
        <pc:spChg chg="mod">
          <ac:chgData name="Vejey Gandyer" userId="S::101352235@georgebrown.ca::654274eb-e1b9-435a-ae49-a2154d32a50b" providerId="AD" clId="Web-{A5269A65-F419-48F7-861C-B225C50F35F3}" dt="2023-04-17T22:21:02.920" v="254" actId="20577"/>
          <ac:spMkLst>
            <pc:docMk/>
            <pc:sldMk cId="3574047956" sldId="267"/>
            <ac:spMk id="2" creationId="{FFDFD66C-75E6-497C-C4D4-1C12906638B9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22:38.716" v="334" actId="20577"/>
          <ac:spMkLst>
            <pc:docMk/>
            <pc:sldMk cId="3574047956" sldId="267"/>
            <ac:spMk id="3" creationId="{29C60893-485D-0AAC-FB7B-F6ADB173300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Land the gap: grade level is a class-level answer to a student-level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Policy is real and cited.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The drawback bullets are the setup for our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Do not read all ten. Point at the three blocks and say the rest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75s. THE slide. Say: 'the formula schools use today scores 0.9142; our deployed model scores 0.7061 - 23% less error, on human-labelled data.' Then tuning +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Put the curl + POSTMAN screenshots here before you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Honesty scores here. Do not oversell.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3m15s live. Fallback recording is on the desktop if the network 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ReadFit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900" b="1">
                <a:solidFill>
                  <a:srgbClr val="2B5FA8"/>
                </a:solidFill>
              </a:rPr>
              <a:t>Will this text fit this reader?</a:t>
            </a:r>
          </a:p>
          <a:p>
            <a:r>
              <a:rPr sz="1300" b="0">
                <a:solidFill>
                  <a:srgbClr val="1A1C1E"/>
                </a:solidFill>
              </a:rPr>
              <a:t>A trained readability model + a deterministic phonics decodability check</a:t>
            </a:r>
          </a:p>
          <a:p>
            <a:r>
              <a:rPr sz="1300" b="0">
                <a:solidFill>
                  <a:srgbClr val="1A1C1E"/>
                </a:solidFill>
              </a:rPr>
              <a:t/>
            </a:r>
          </a:p>
          <a:p>
            <a:r>
              <a:rPr sz="1200" b="0">
                <a:solidFill>
                  <a:srgbClr val="5F6570"/>
                </a:solidFill>
              </a:rPr>
              <a:t>Moyinoluwa Ajibola 101610734  ·  Adelabu Emmanuel 101571971</a:t>
            </a:r>
          </a:p>
          <a:p>
            <a:r>
              <a:rPr sz="1200" b="0">
                <a:solidFill>
                  <a:srgbClr val="5F6570"/>
                </a:solidFill>
              </a:rPr>
              <a:t>Ameer Hamza Manzoor 101630890  ·  Diwakar Saini 101592939</a:t>
            </a:r>
          </a:p>
          <a:p>
            <a:r>
              <a:rPr sz="1200" b="0">
                <a:solidFill>
                  <a:srgbClr val="5F6570"/>
                </a:solidFill>
              </a:rPr>
              <a:t>Lalit Kumar 101572828  ·  Innocent Amos Mchechesi 101628648</a:t>
            </a:r>
          </a:p>
          <a:p>
            <a:r>
              <a:rPr sz="1200" b="0">
                <a:solidFill>
                  <a:srgbClr val="5F6570"/>
                </a:solidFill>
              </a:rPr>
              <a:t/>
            </a:r>
          </a:p>
          <a:p>
            <a:r>
              <a:rPr sz="1200" b="0">
                <a:solidFill>
                  <a:srgbClr val="5F6570"/>
                </a:solidFill>
              </a:rPr>
              <a:t>AASD 4016 Full Stack Data Science Systems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A4D7-FFEE-42D5-F7C0-D255FB32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C1DA7-4623-1F86-D71E-05B959A74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Problem</a:t>
            </a:r>
          </a:p>
          <a:p>
            <a:r>
              <a:rPr lang="en-US" dirty="0">
                <a:cs typeface="Calibri"/>
              </a:rPr>
              <a:t>Significance</a:t>
            </a:r>
          </a:p>
          <a:p>
            <a:r>
              <a:rPr lang="en-US" dirty="0">
                <a:cs typeface="Calibri"/>
              </a:rPr>
              <a:t>Past projects</a:t>
            </a:r>
          </a:p>
          <a:p>
            <a:r>
              <a:rPr lang="en-US" dirty="0">
                <a:cs typeface="Calibri"/>
              </a:rPr>
              <a:t>Methodology – ML Canvas</a:t>
            </a:r>
          </a:p>
          <a:p>
            <a:r>
              <a:rPr lang="en-US" dirty="0">
                <a:cs typeface="Calibri"/>
              </a:rPr>
              <a:t>Model Benchmarking</a:t>
            </a:r>
          </a:p>
          <a:p>
            <a:r>
              <a:rPr lang="en-US" dirty="0">
                <a:cs typeface="Calibri"/>
              </a:rPr>
              <a:t>Model Deployment</a:t>
            </a:r>
          </a:p>
          <a:p>
            <a:r>
              <a:rPr lang="en-US" dirty="0">
                <a:cs typeface="Calibri"/>
              </a:rPr>
              <a:t>Demo</a:t>
            </a:r>
          </a:p>
          <a:p>
            <a:r>
              <a:rPr lang="en-US" dirty="0">
                <a:cs typeface="Calibr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71493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A Grade 1 teacher has 25 students at 25 different points in the phonics sequence.</a:t>
            </a:r>
            <a:endParaRPr lang="en-US" dirty="0">
              <a:cs typeface="Calibri"/>
            </a:endParaRP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F6570"/>
                </a:solidFill>
              </a:rPr>
              <a:t>Ontario has mandated systematic, explicit phonics since September 2023.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To practise reading, a child needs text made only of letter-sound patterns they have already been taught.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F6570"/>
                </a:solidFill>
              </a:rPr>
              <a:t>One untaught word and the child falls back on guessing - the exact habit structured literacy exists to remove.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Existing tools answer "what grade is this text?"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F6570"/>
                </a:solidFill>
              </a:rPr>
              <a:t>Nobody answers "can THIS child read THIS text?"</a:t>
            </a:r>
          </a:p>
        </p:txBody>
      </p:sp>
    </p:spTree>
    <p:extLst>
      <p:ext uri="{BB962C8B-B14F-4D97-AF65-F5344CB8AC3E}">
        <p14:creationId xmlns:p14="http://schemas.microsoft.com/office/powerpoint/2010/main" val="145105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this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Policy: Ontario Right to Read inquiry (OHRC) drove a full curriculum revision, implemented Sept 2023.</a:t>
            </a:r>
            <a:endParaRPr lang="en-US" dirty="0">
              <a:cs typeface="Calibri"/>
            </a:endParaR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Scale: every Grade 1-2 classroom in the province now runs a structured phonics sequence.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Cost of getting it wrong: mis-levelled text trains guessing, which collapses when books get harder.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A1C1E"/>
                </a:solidFill>
              </a:rPr>
              <a:t>Current workaround: teachers hand-write passages from a ~40-word legal vocabulary, at night.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A1C1E"/>
                </a:solidFill>
              </a:rPr>
              <a:t>→ A two-second check is worth real classroom time.</a:t>
            </a:r>
          </a:p>
        </p:txBody>
      </p:sp>
    </p:spTree>
    <p:extLst>
      <p:ext uri="{BB962C8B-B14F-4D97-AF65-F5344CB8AC3E}">
        <p14:creationId xmlns:p14="http://schemas.microsoft.com/office/powerpoint/2010/main" val="226934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A1C1E"/>
                </a:solidFill>
              </a:rPr>
              <a:t>Past available projects: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Flesch-Kincaid (1975), Flesch Reading Ease, Dale-Chall, SMOG, ARI - surface-count formulas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Lexile - proprietary commercial levelling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C1E"/>
                </a:solidFill>
              </a:rPr>
              <a:t>Similar projects: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CommonLit Readability Prize (Kaggle, 2021) - ML readability regression on human-rated excerpts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Produced the CLEAR corpus, which we train 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C1E"/>
                </a:solidFill>
              </a:rPr>
              <a:t>Drawbacks: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All output ONE number for a whole class - none identify which words fail which learner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Formulas use only sentence and syllable counts: Flesch-Kincaid reaches only R2 = 0.27 against human judgement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F6570"/>
                </a:solidFill>
              </a:rPr>
              <a:t>No published tool models grapheme-level decodability against a phonics sequence</a:t>
            </a:r>
          </a:p>
        </p:txBody>
      </p:sp>
    </p:spTree>
    <p:extLst>
      <p:ext uri="{BB962C8B-B14F-4D97-AF65-F5344CB8AC3E}">
        <p14:creationId xmlns:p14="http://schemas.microsoft.com/office/powerpoint/2010/main" val="348100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ML Canvas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Value Proposition: in under 2 seconds, tell a teacher whether a passage fits a specific student - overall difficulty AND every word they cannot yet decode.</a:t>
            </a:r>
            <a:endParaRPr lang="en-US" dirty="0">
              <a:cs typeface="Calibri"/>
            </a:endParaRP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LEARN - Data sources: CLEAR Corpus 6.01 (4,724 excerpts, human-rated); GPC table; UFLI-style lesson sequence.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LEARN - Collecting data: fixed public release for training; every live prediction logged to SQLite for future retrains.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LEARN - Features: 15 linguistic (sentence length, syllable + polysyllable rate, type-token ratio, common-word rate, Flesch scores) + 3,000 TF-IDF uni/bigrams.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LEARN - Building models: offline batch, 25 seconds on CPU; artifact ships inside the Docker image.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PREDICT - ML task: supervised regression. In: raw passage text. Out: BT_easiness (continuous, higher = easier), binned to 5 grade bands.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PREDICT - Decisions: teacher accepts, rejects, or edits the flagged words. Model informs; it does not act.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PREDICT - Making predictions: on demand, synchronous, one passage per request, sub-second, POST /predict.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PREDICT - Offline evaluation: RMSE / MAE / R2 on held-out 20% (seed 42) vs two baselines. Deployed: RMSE 0.7061, R2 0.5625.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A1C1E"/>
                </a:solidFill>
              </a:rPr>
              <a:t>EVALUATE - Live: every prediction logged; dashboard tracks volume, mean readability, mean decodability, band distribution. Drift = band shift vs training.</a:t>
            </a:r>
          </a:p>
        </p:txBody>
      </p:sp>
    </p:spTree>
    <p:extLst>
      <p:ext uri="{BB962C8B-B14F-4D97-AF65-F5344CB8AC3E}">
        <p14:creationId xmlns:p14="http://schemas.microsoft.com/office/powerpoint/2010/main" val="182455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Model Benchmarking</a:t>
            </a:r>
            <a:endParaRPr lang="en-US" dirty="0"/>
          </a:p>
        </p:txBody>
      </p:sp>
      <p:pic>
        <p:nvPicPr>
          <p:cNvPr id="3" name="Picture 2" descr="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223760" cy="34153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09560" y="146304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Dataset: </a:t>
            </a:r>
            <a:r>
              <a:rPr sz="1100">
                <a:solidFill>
                  <a:srgbClr val="5F6570"/>
                </a:solidFill>
              </a:rPr>
              <a:t>CLEAR Corpus 6.01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Excerpts: </a:t>
            </a:r>
            <a:r>
              <a:rPr sz="1100">
                <a:solidFill>
                  <a:srgbClr val="5F6570"/>
                </a:solidFill>
              </a:rPr>
              <a:t>4,724 (3,779 train / 945 test)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Target: </a:t>
            </a:r>
            <a:r>
              <a:rPr sz="1100">
                <a:solidFill>
                  <a:srgbClr val="5F6570"/>
                </a:solidFill>
              </a:rPr>
              <a:t>BT_easiness - human pairwise
judgements, not a formula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Split: </a:t>
            </a:r>
            <a:r>
              <a:rPr sz="1100">
                <a:solidFill>
                  <a:srgbClr val="5F6570"/>
                </a:solidFill>
              </a:rPr>
              <a:t>80/20, seed 42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Tuning: </a:t>
            </a:r>
            <a:r>
              <a:rPr sz="1100">
                <a:solidFill>
                  <a:srgbClr val="5F6570"/>
                </a:solidFill>
              </a:rPr>
              <a:t>GridSearchCV, Ridge alpha
over 5 values, 5-fold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Flesch-Kincaid RMSE: </a:t>
            </a:r>
            <a:r>
              <a:rPr sz="1100">
                <a:solidFill>
                  <a:srgbClr val="2B5FA8"/>
                </a:solidFill>
              </a:rPr>
              <a:t>0.9142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Deployed model RMSE: </a:t>
            </a:r>
            <a:r>
              <a:rPr sz="1100">
                <a:solidFill>
                  <a:srgbClr val="2B5FA8"/>
                </a:solidFill>
              </a:rPr>
              <a:t>0.7061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Improvement: </a:t>
            </a:r>
            <a:r>
              <a:rPr sz="1100">
                <a:solidFill>
                  <a:srgbClr val="2B5FA8"/>
                </a:solidFill>
              </a:rPr>
              <a:t>23% lower error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A1C1E"/>
                </a:solidFill>
              </a:rPr>
              <a:t>R2: </a:t>
            </a:r>
            <a:r>
              <a:rPr sz="1100">
                <a:solidFill>
                  <a:srgbClr val="2B5FA8"/>
                </a:solidFill>
              </a:rPr>
              <a:t>0.267 → 0.5625</a:t>
            </a:r>
          </a:p>
        </p:txBody>
      </p:sp>
    </p:spTree>
    <p:extLst>
      <p:ext uri="{BB962C8B-B14F-4D97-AF65-F5344CB8AC3E}">
        <p14:creationId xmlns:p14="http://schemas.microsoft.com/office/powerpoint/2010/main" val="149467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Model 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Notebook → Script:  notebooks/01_eda.ipynb → src/train.py  (Module 1)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Script → Flask:  app.py, 9 endpoints, model loaded once at boot  (Modules 2-3)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Docker:  python:3.11-slim, gunicorn, .dockerignore keeps context at ~180 KB  (Module 4)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Dockerhub:  docker tag / docker push  (Module 5)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GCP Compute Engine:  e2-micro, us-east1, firewall tcp:5000 + tcp:8501, tag demo-1  (Module 5)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Tested public endpoints:  curl, POSTMAN, browser client  (Modules 3 + 5)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C1E"/>
                </a:solidFill>
              </a:rPr>
              <a:t>→ Live at  http://&lt;VM_IP&gt;:5000   ·   Dashboard at  http://&lt;VM_IP&gt;:8501</a:t>
            </a:r>
          </a:p>
        </p:txBody>
      </p:sp>
    </p:spTree>
    <p:extLst>
      <p:ext uri="{BB962C8B-B14F-4D97-AF65-F5344CB8AC3E}">
        <p14:creationId xmlns:p14="http://schemas.microsoft.com/office/powerpoint/2010/main" val="3472918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Challenges &amp; Issues encountered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One working day, solo execution - forced hard scope cuts, documented in the report.</a:t>
            </a:r>
            <a:endParaRPr lang="en-US" dirty="0">
              <a:cs typeface="Calibri"/>
            </a:endParaRP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e2-micro has 1 GB RAM: ruled out sentence-embedding models; chose Ridge + TF-IDF (136 KB artifact).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Rule-based GPC table has no CMUdict validation - it mis-splits some words and fails closed.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BT_easiness is an abstract scale, not grade levels - bands are quantile-calibrated on training data, so they are relative not absolute.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R2 = 0.56 means real variance is still unexplained; readability is genuinely hard.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Flask dev server warns against production use - switched to gunicorn.</a:t>
            </a:r>
          </a:p>
        </p:txBody>
      </p:sp>
    </p:spTree>
    <p:extLst>
      <p:ext uri="{BB962C8B-B14F-4D97-AF65-F5344CB8AC3E}">
        <p14:creationId xmlns:p14="http://schemas.microsoft.com/office/powerpoint/2010/main" val="277550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1.  Browser → http://&lt;VM_IP&gt;:5000/    (say the IP out loud)</a:t>
            </a:r>
            <a:endParaRPr lang="en-US" dirty="0">
              <a:cs typeface="Calibri"/>
            </a:endParaRP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2.  Academic passage, lesson 34  →  Grades 11-12, 73.9% decodable, word-by-word table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3.  Decodable passage  →  Grades 2-3, 100% decodable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4.  Terminal: curl -X POST /predict  →  raw JSON   [outcome 6]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5.  Dashboard on the public IP: benchmark, tuning, feature importance, live scatter   [outcomes 2 + 5]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C1E"/>
                </a:solidFill>
              </a:rPr>
              <a:t>6.  Score a passage from inside the dashboard, against production</a:t>
            </a:r>
          </a:p>
        </p:txBody>
      </p:sp>
    </p:spTree>
    <p:extLst>
      <p:ext uri="{BB962C8B-B14F-4D97-AF65-F5344CB8AC3E}">
        <p14:creationId xmlns:p14="http://schemas.microsoft.com/office/powerpoint/2010/main" val="32834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 &amp; 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>Repo:  github.com/&lt;user&gt;/readfit          Image:  hub.docker.com/r/&lt;user&gt;/readfit</a:t>
            </a:r>
            <a:endParaRPr lang="en-US" dirty="0">
              <a:cs typeface="Calibri"/>
            </a:endParaRP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>Live API:  http://&lt;VM_IP&gt;:5000/health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/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>Anticipated: Where is the ML?  →  Ridge regression on 3,015 features, trained on 4,724 human-rated excerpts.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>Why not just Flesch-Kincaid?  →  We benchmarked it. R2 0.27 vs our 0.56.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A1C1E"/>
                </a:solidFill>
              </a:rPr>
              <a:t>Why Ridge over GradientBoosting?  →  It won on held-out RMSE (0.706 vs 0.834) and fits in 1 GB.</a:t>
            </a:r>
          </a:p>
        </p:txBody>
      </p:sp>
    </p:spTree>
    <p:extLst>
      <p:ext uri="{BB962C8B-B14F-4D97-AF65-F5344CB8AC3E}">
        <p14:creationId xmlns:p14="http://schemas.microsoft.com/office/powerpoint/2010/main" val="377483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D66C-75E6-497C-C4D4-1C129066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Presentation Bookkeeping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0893-485D-0AAC-FB7B-F6ADB1733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15 groups in total</a:t>
            </a:r>
          </a:p>
          <a:p>
            <a:r>
              <a:rPr lang="en-US" dirty="0">
                <a:cs typeface="Calibri"/>
              </a:rPr>
              <a:t>240 minutes</a:t>
            </a:r>
          </a:p>
          <a:p>
            <a:r>
              <a:rPr lang="en-US" dirty="0">
                <a:cs typeface="Calibri"/>
              </a:rPr>
              <a:t>16 minutes for each group</a:t>
            </a:r>
          </a:p>
          <a:p>
            <a:r>
              <a:rPr lang="en-US" dirty="0">
                <a:cs typeface="Calibri"/>
              </a:rPr>
              <a:t>10 minutes for presentation</a:t>
            </a:r>
          </a:p>
          <a:p>
            <a:r>
              <a:rPr lang="en-US" dirty="0">
                <a:cs typeface="Calibri"/>
              </a:rPr>
              <a:t>5 minutes for Q&amp;A</a:t>
            </a:r>
          </a:p>
          <a:p>
            <a:r>
              <a:rPr lang="en-US" dirty="0">
                <a:cs typeface="Calibri"/>
              </a:rPr>
              <a:t>1 minute for group changing</a:t>
            </a:r>
          </a:p>
        </p:txBody>
      </p:sp>
    </p:spTree>
    <p:extLst>
      <p:ext uri="{BB962C8B-B14F-4D97-AF65-F5344CB8AC3E}">
        <p14:creationId xmlns:p14="http://schemas.microsoft.com/office/powerpoint/2010/main" val="357404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Iris Classifier</vt:lpstr>
      <vt:lpstr>Agenda</vt:lpstr>
      <vt:lpstr>Problem Statement</vt:lpstr>
      <vt:lpstr>Why this problem</vt:lpstr>
      <vt:lpstr>Literature Review</vt:lpstr>
      <vt:lpstr>ML Canvas</vt:lpstr>
      <vt:lpstr>Model Benchmarking</vt:lpstr>
      <vt:lpstr>Model Deployment</vt:lpstr>
      <vt:lpstr>Challenges &amp; Issues encountered</vt:lpstr>
      <vt:lpstr>Demo</vt:lpstr>
      <vt:lpstr>Q &amp; A</vt:lpstr>
      <vt:lpstr>Presentation Bookkeeping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69</cp:revision>
  <dcterms:created xsi:type="dcterms:W3CDTF">2023-04-17T22:06:06Z</dcterms:created>
  <dcterms:modified xsi:type="dcterms:W3CDTF">2023-04-17T22:22:39Z</dcterms:modified>
</cp:coreProperties>
</file>